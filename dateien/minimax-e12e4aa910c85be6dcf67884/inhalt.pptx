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dortmund.blogspot.com/2026/10/dachbegrunung-in-dortmund-forder.html" TargetMode="External"/><Relationship Id="rId3" Type="http://schemas.openxmlformats.org/officeDocument/2006/relationships/hyperlink" Target="https://holzundhaus.github.io/dachwerkdortmund/dateien/minimax-e12e4aa910c85be6dcf6788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Dachbegrünung in Dortmund: Förder-Voraussetzungen und der richtige Antragszeitpunkt · Erklärende Präsentation</a:t>
            </a:r>
          </a:p>
        </p:txBody>
      </p:sp>
      <p:sp>
        <p:nvSpPr>
          <p:cNvPr id="3" name="Content Placeholder 2"/>
          <p:cNvSpPr>
            <a:spLocks noGrp="1"/>
          </p:cNvSpPr>
          <p:nvPr>
            <p:ph idx="1"/>
          </p:nvPr>
        </p:nvSpPr>
        <p:spPr/>
        <p:txBody>
          <a:bodyPr/>
          <a:lstStyle/>
          <a:p>
            <a:r>
              <a:t>Überblick: Eine Dachbegrünung in Dortmund kann durch ein städtisches Förderprogramm unterstützt werden. Entscheidend ist jedoch nicht nur die geplante Begrünung, sondern auch die Reihenfolge von Prüfung, Antrag, Auftrag und Ausführung. Wer bereits vor der formalen Bewilligung beauftragt oder mit Bauarbeiten beginnt, riskiert nach den im Ausgangstext beschriebenen Förderbedingungen den Ausschluss. Der folgende Leitfaden strukturiert die Vorbereitung so, dass bauliche Fragen, Unterlagen und Zuständigkeiten früh geklärt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Antrag: Förderfähigkeit und Baustand klären</a:t>
            </a:r>
          </a:p>
        </p:txBody>
      </p:sp>
      <p:sp>
        <p:nvSpPr>
          <p:cNvPr id="3" name="Content Placeholder 2"/>
          <p:cNvSpPr>
            <a:spLocks noGrp="1"/>
          </p:cNvSpPr>
          <p:nvPr>
            <p:ph idx="1"/>
          </p:nvPr>
        </p:nvSpPr>
        <p:spPr/>
        <p:txBody>
          <a:bodyPr/>
          <a:lstStyle/>
          <a:p>
            <a:pPr>
              <a:defRPr sz="1800"/>
            </a:pPr>
            <a:r>
              <a:t>Beginnen Sie mit einer Bestandsaufnahme des Dachs. Dafür sind insbesondere die Tragreserve, der Aufbau, der Zustand der Abdichtung, vorhandene Anschlüsse und die Entwässerung zu prüfen. Diese Angaben bilden die Grundlage für einen technisch passenden Begrünungsaufbau. Gleichzeitig sollte die gewünschte Nutzung feststehen: Eine extensive Begrünung stellt andere Anforderungen an Aufbau, Substrat, Pflege und Nachweise als eine intensiv bepflanzte oder stärker genutzte Fläche.</a:t>
            </a:r>
          </a:p>
          <a:p>
            <a:pPr>
              <a:defRPr sz="1800"/>
            </a:pPr>
          </a:p>
          <a:p>
            <a:pPr>
              <a:defRPr sz="1800"/>
            </a:pPr>
            <a:r>
              <a:t>Lassen Sie außerdem offen, ob Eigenleistungen geplant sind. Nach den typischen Förderregeln können private Vorarbeiten häufig nicht oder nur eingeschränkt als förderfähige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Antrag: Förderfähigkeit und Baustand klären</a:t>
            </a:r>
          </a:p>
        </p:txBody>
      </p:sp>
      <p:sp>
        <p:nvSpPr>
          <p:cNvPr id="3" name="Content Placeholder 2"/>
          <p:cNvSpPr>
            <a:spLocks noGrp="1"/>
          </p:cNvSpPr>
          <p:nvPr>
            <p:ph idx="1"/>
          </p:nvPr>
        </p:nvSpPr>
        <p:spPr/>
        <p:txBody>
          <a:bodyPr/>
          <a:lstStyle/>
          <a:p>
            <a:pPr>
              <a:defRPr sz="1800"/>
            </a:pPr>
            <a:r>
              <a:t> Leistungen angerechnet werden. Deshalb sollte vor der Antragstellung geklärt werden, welche Arbeiten von einem Fachbetrieb ausgeführt und separat abgerechnet werden sollen.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einen aussagekräftigen Förderantrag</a:t>
            </a:r>
          </a:p>
        </p:txBody>
      </p:sp>
      <p:sp>
        <p:nvSpPr>
          <p:cNvPr id="3" name="Content Placeholder 2"/>
          <p:cNvSpPr>
            <a:spLocks noGrp="1"/>
          </p:cNvSpPr>
          <p:nvPr>
            <p:ph idx="1"/>
          </p:nvPr>
        </p:nvSpPr>
        <p:spPr/>
        <p:txBody>
          <a:bodyPr/>
          <a:lstStyle/>
          <a:p>
            <a:pPr>
              <a:defRPr sz="1800"/>
            </a:pPr>
            <a:r>
              <a:t>Ein förderfähiger Antrag benötigt nach den üblichen Anforderungen eine nachvollziehbare Unterlagenbasis. Dazu gehören je nach Programm Pläne des Bestands, vorhandene Tragwerksnachweise, Angaben zu Dachfläche und Dachaufbau sowie eine Beschreibung der geplanten Nutzung und des erwarteten Pflegebedarfs. Der Kostenvoranschlag sollte Vorbereitung, Wurzelschutz, Dränage, Substrat und Bepflanzung als getrennte Positionen ausweisen.</a:t>
            </a:r>
          </a:p>
          <a:p>
            <a:pPr>
              <a:defRPr sz="1800"/>
            </a:pPr>
          </a:p>
          <a:p>
            <a:pPr>
              <a:defRPr sz="1800"/>
            </a:pPr>
            <a:r>
              <a:t>Ebenfalls hilfreich ist eine kurze Erklärung zum Baubeginn. Darin wird bestätigt, dass weder ein Auftrag erteilt noch mit der Ausführung begonnen wurde. Diese Unterlagen sollten vollständig vorbereitet sein, bevor größe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einen aussagekräftigen Förderantrag</a:t>
            </a:r>
          </a:p>
        </p:txBody>
      </p:sp>
      <p:sp>
        <p:nvSpPr>
          <p:cNvPr id="3" name="Content Placeholder 2"/>
          <p:cNvSpPr>
            <a:spLocks noGrp="1"/>
          </p:cNvSpPr>
          <p:nvPr>
            <p:ph idx="1"/>
          </p:nvPr>
        </p:nvSpPr>
        <p:spPr/>
        <p:txBody>
          <a:bodyPr/>
          <a:lstStyle/>
          <a:p>
            <a:pPr>
              <a:defRPr sz="1800"/>
            </a:pPr>
            <a:r>
              <a:t>re Aufträge vergeben werden. Bei Unklarheiten zu Programmlaufzeit, Förderhöhe oder Zuständigkeit ist die aktuelle Auskunft der zuständigen Stelle maßgeblich, weil sich die Bedingungen ändern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sichere Reihenfolge: Vorprüfung, Antrag, Auftrag, Ausführung</a:t>
            </a:r>
          </a:p>
        </p:txBody>
      </p:sp>
      <p:sp>
        <p:nvSpPr>
          <p:cNvPr id="3" name="Content Placeholder 2"/>
          <p:cNvSpPr>
            <a:spLocks noGrp="1"/>
          </p:cNvSpPr>
          <p:nvPr>
            <p:ph idx="1"/>
          </p:nvPr>
        </p:nvSpPr>
        <p:spPr/>
        <p:txBody>
          <a:bodyPr/>
          <a:lstStyle/>
          <a:p>
            <a:pPr>
              <a:defRPr sz="1800"/>
            </a:pPr>
            <a:r>
              <a:t>Der Ablauf sollte in vier klar getrennte Schritte zerlegt werden. Im ersten Schritt werden die aktuellen Förderbedingungen und die verfügbaren Mittel geprüft. Im zweiten Schritt erfolgt die technische Bestandsaufnahme durch eine geeignete Fachplanung. Im dritten Schritt wird der Antrag mit den erforderlichen Nachweisen eingereicht. Erst nach einer schriftlichen Bewilligung sollte ein ausführender Betrieb beauftragt werden.</a:t>
            </a:r>
          </a:p>
          <a:p>
            <a:pPr>
              <a:defRPr sz="1800"/>
            </a:pPr>
          </a:p>
          <a:p>
            <a:pPr>
              <a:defRPr sz="1800"/>
            </a:pPr>
            <a:r>
              <a:t>Eine Beratung zur Planung einer Dachbegrünung in Dortmund kann helfen, Aufbau, Pflegebedarf und Antragsunterlagen vorab zu strukturieren; die Details der Förderung und der [weiterführende Ratgeber zur Förderung einer Dachb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sichere Reihenfolge: Vorprüfung, Antrag, Auftrag, Ausführung</a:t>
            </a:r>
          </a:p>
        </p:txBody>
      </p:sp>
      <p:sp>
        <p:nvSpPr>
          <p:cNvPr id="3" name="Content Placeholder 2"/>
          <p:cNvSpPr>
            <a:spLocks noGrp="1"/>
          </p:cNvSpPr>
          <p:nvPr>
            <p:ph idx="1"/>
          </p:nvPr>
        </p:nvSpPr>
        <p:spPr/>
        <p:txBody>
          <a:bodyPr/>
          <a:lstStyle/>
          <a:p>
            <a:pPr>
              <a:defRPr sz="1800"/>
            </a:pPr>
            <a:r>
              <a:t>egrünung in Dortmund] gehören jedoch nicht in die technische Planung. Wichtig bleibt, dass Beratung, Aufmaß oder Planung keinen Bauauftrag ersetzen, wenn das Programm einen strengen Vorrang des Antrags verlangt.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Fehler und ihre Folgen</a:t>
            </a:r>
          </a:p>
        </p:txBody>
      </p:sp>
      <p:sp>
        <p:nvSpPr>
          <p:cNvPr id="3" name="Content Placeholder 2"/>
          <p:cNvSpPr>
            <a:spLocks noGrp="1"/>
          </p:cNvSpPr>
          <p:nvPr>
            <p:ph idx="1"/>
          </p:nvPr>
        </p:nvSpPr>
        <p:spPr/>
        <p:txBody>
          <a:bodyPr/>
          <a:lstStyle/>
          <a:p>
            <a:pPr>
              <a:defRPr sz="1800"/>
            </a:pPr>
            <a:r>
              <a:t>Besonders kritisch ist eine Auftragserteilung vor der Antragstellung. Auch eine mündliche Zusage kann als vorzeitige Beauftragung gewertet werden. Ebenso problematisch ist ein Beginn von Lieferungen oder Vorarbeiten, wenn dadurch bereits ein vorzeitiger Baubeginn dokumentiert wird. Dadurch kann die Förderung vollständig ausgeschlossen werden.</a:t>
            </a:r>
          </a:p>
          <a:p>
            <a:pPr>
              <a:defRPr sz="1800"/>
            </a:pPr>
          </a:p>
          <a:p>
            <a:pPr>
              <a:defRPr sz="1800"/>
            </a:pPr>
            <a:r>
              <a:t>Ein weiterer Fehler ist die Vermischung von Fachleistung und privater Eigenleistung, wenn nur letztere im Kostenvoranschlag erscheint. Auch verdeckte Mängel der Abdichtung können die Umsetzung verzögern. Eine ungeklärte Feuchtigkeit sollte deshalb vor der Begrünung untersucht werden, damit die neue Dach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Fehler und ihre Folgen</a:t>
            </a:r>
          </a:p>
        </p:txBody>
      </p:sp>
      <p:sp>
        <p:nvSpPr>
          <p:cNvPr id="3" name="Content Placeholder 2"/>
          <p:cNvSpPr>
            <a:spLocks noGrp="1"/>
          </p:cNvSpPr>
          <p:nvPr>
            <p:ph idx="1"/>
          </p:nvPr>
        </p:nvSpPr>
        <p:spPr/>
        <p:txBody>
          <a:bodyPr/>
          <a:lstStyle/>
          <a:p>
            <a:pPr>
              <a:defRPr sz="1800"/>
            </a:pPr>
            <a:r>
              <a:t>schicht keine bestehenden Probleme unsichtbar macht.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der Bewilligung: Umsetzung und Nachweise vorbereiten</a:t>
            </a:r>
          </a:p>
        </p:txBody>
      </p:sp>
      <p:sp>
        <p:nvSpPr>
          <p:cNvPr id="3" name="Content Placeholder 2"/>
          <p:cNvSpPr>
            <a:spLocks noGrp="1"/>
          </p:cNvSpPr>
          <p:nvPr>
            <p:ph idx="1"/>
          </p:nvPr>
        </p:nvSpPr>
        <p:spPr/>
        <p:txBody>
          <a:bodyPr/>
          <a:lstStyle/>
          <a:p>
            <a:pPr>
              <a:defRPr sz="1800"/>
            </a:pPr>
            <a:r>
              <a:t>Nach der Freigabe können die beauftragten Arbeiten entsprechend der Bewilligung umgesetzt werden. Die vereinbarten Positionen sollten so dokumentiert werden, dass Vorbereitung, Wurzelschutz, Dränage, Substrat und Bepflanzung nachvollziehbar bleiben. Rechnungen und weitere Belege gehören gesammelt, damit der spätere Verwendungsnachweis vorbereitet ist.</a:t>
            </a:r>
          </a:p>
          <a:p>
            <a:pPr>
              <a:defRPr sz="1800"/>
            </a:pPr>
          </a:p>
          <a:p>
            <a:pPr>
              <a:defRPr sz="1800"/>
            </a:pPr>
            <a:r>
              <a:t>Für eine fachliche Einschätzung der Ausführbarkeit bietet sich die [Planung einer Dachbegrünung in Dortmund] als ergänzende Informationsquelle an. Die formale Prüfung der Förderung bleibt davon getrennt: Zuständige Stelle, geltende Fristen und tatsächlicher Programmstand müssen stets direkt bes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der Bewilligung: Umsetzung und Nachweise vorbereiten</a:t>
            </a:r>
          </a:p>
        </p:txBody>
      </p:sp>
      <p:sp>
        <p:nvSpPr>
          <p:cNvPr id="3" name="Content Placeholder 2"/>
          <p:cNvSpPr>
            <a:spLocks noGrp="1"/>
          </p:cNvSpPr>
          <p:nvPr>
            <p:ph idx="1"/>
          </p:nvPr>
        </p:nvSpPr>
        <p:spPr/>
        <p:txBody>
          <a:bodyPr/>
          <a:lstStyle/>
          <a:p>
            <a:pPr>
              <a:defRPr sz="1800"/>
            </a:pPr>
            <a:r>
              <a:t>tätigt werden. So lässt sich die technische Planung sinnvoll vorbereiten, ohne den für die Förderung entscheidenden Antragszeitpunkt zu verspielen.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Dachbegrünung in Dortmund: Förder-Voraussetzungen und der richtige Antragszeitpunkt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