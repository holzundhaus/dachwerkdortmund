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dortmund/dachterrasse-oder-dachbegruenung-vergleich/" TargetMode="External"/><Relationship Id="rId3" Type="http://schemas.openxmlformats.org/officeDocument/2006/relationships/hyperlink" Target="https://holzundhaus.github.io/dachwerkdortmund/dateien/minimax-03230994c4723db28e53f7e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Dachterrasse oder Dachbegrünung: Aufbau, Lasten und Nutzung im Vergleich · Erklärende Präsentation</a:t>
            </a:r>
          </a:p>
        </p:txBody>
      </p:sp>
      <p:sp>
        <p:nvSpPr>
          <p:cNvPr id="3" name="Content Placeholder 2"/>
          <p:cNvSpPr>
            <a:spLocks noGrp="1"/>
          </p:cNvSpPr>
          <p:nvPr>
            <p:ph idx="1"/>
          </p:nvPr>
        </p:nvSpPr>
        <p:spPr/>
        <p:txBody>
          <a:bodyPr/>
          <a:lstStyle/>
          <a:p>
            <a:r>
              <a:t>Überblick: Wer eine Dachterrasse oder eine Dachbegrünung für ein Flachdach plant, entscheidet nicht nur über die gewünschte Nutzung. Entscheidend ist auch, wie Aufbau, Abdichtung, Tragwerk, Entwässerung und spätere Wartung zusammenspielen. Der folgende Leitfaden strukturiert die Planung in der Reihenfolge, in der die Fragen sinnvoll geklärt werden können. Er ergänzt den Vergleich „Dachterrasse oder Dachbegrünung“ um einen praktischen Entscheidungs- und Prüfablauf für die frühe Projektphase.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1: Bestand und Nutzungsziel klären</a:t>
            </a:r>
          </a:p>
        </p:txBody>
      </p:sp>
      <p:sp>
        <p:nvSpPr>
          <p:cNvPr id="3" name="Content Placeholder 2"/>
          <p:cNvSpPr>
            <a:spLocks noGrp="1"/>
          </p:cNvSpPr>
          <p:nvPr>
            <p:ph idx="1"/>
          </p:nvPr>
        </p:nvSpPr>
        <p:spPr/>
        <p:txBody>
          <a:bodyPr/>
          <a:lstStyle/>
          <a:p>
            <a:pPr>
              <a:defRPr sz="1800"/>
            </a:pPr>
            <a:r>
              <a:t>Am Anfang stehen die vorhandenenbedingungen und das spätere Nutzungsziel. Erfasst werden die Dachform, der Zustand der Abdichtung, vorhandene Aufbaupläne, Anschlüsse, Abläufe und die verfügbare Tragreserve. Ebenso wichtig ist die Frage, ob die Fläche dauerhaft begehbar, nur intermittently genutzt oder vor allem bewachsen sein soll. Eine begehbare Fläche benötigt einen sicheren Zugang, eine funktionierende Entwässerung und einen passenden Absturzschutz. Bei einer Begrünung sind Vegetation, Pflegeaufwand und die Zugänglichkeit für Wartungsarbeiten maßgeblich. Diese Ziele sollten vor Detailvarianten feststehen, weil sie den gesamten Aufbau beein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1: Bestand und Nutzungsziel klären</a:t>
            </a:r>
          </a:p>
        </p:txBody>
      </p:sp>
      <p:sp>
        <p:nvSpPr>
          <p:cNvPr id="3" name="Content Placeholder 2"/>
          <p:cNvSpPr>
            <a:spLocks noGrp="1"/>
          </p:cNvSpPr>
          <p:nvPr>
            <p:ph idx="1"/>
          </p:nvPr>
        </p:nvSpPr>
        <p:spPr/>
        <p:txBody>
          <a:bodyPr/>
          <a:lstStyle/>
          <a:p>
            <a:pPr>
              <a:defRPr sz="1800"/>
            </a:pPr>
            <a:r>
              <a:t>flussen.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2: Aufbau und Materialschichten festlegen</a:t>
            </a:r>
          </a:p>
        </p:txBody>
      </p:sp>
      <p:sp>
        <p:nvSpPr>
          <p:cNvPr id="3" name="Content Placeholder 2"/>
          <p:cNvSpPr>
            <a:spLocks noGrp="1"/>
          </p:cNvSpPr>
          <p:nvPr>
            <p:ph idx="1"/>
          </p:nvPr>
        </p:nvSpPr>
        <p:spPr/>
        <p:txBody>
          <a:bodyPr/>
          <a:lstStyle/>
          <a:p>
            <a:pPr>
              <a:defRPr sz="1800"/>
            </a:pPr>
            <a:r>
              <a:t>Bei einer Dachterrasse liegen zwischen Nutzbelag und Abdichtung die erforderlichen Schutz- und Aufbauschichten. Der Türanschluss muss zu Höhe, Wasserführung und angrenzenden Bauteilen passen. Bei einer Dachbegrünung ergänzen Wurzelschutz beziehungsweise ein wurzelfestes System, Dränage und Substrat die Abdichtung. Extensive und intensiv gestaltete Begrünungen unterscheiden sich in ihren Anforderungen an Aufbau und Pflege. Unabhängig von der gewählten Variante bleibt die Abdichtung eine eigenständige technische Aufgabe: Ein neuer Oberbelag oder ein Begrünungsaufbau behebt keine bereits vorhandene Undichtigkeit darunter.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3: Lastreserve objektbezogen prüfen</a:t>
            </a:r>
          </a:p>
        </p:txBody>
      </p:sp>
      <p:sp>
        <p:nvSpPr>
          <p:cNvPr id="3" name="Content Placeholder 2"/>
          <p:cNvSpPr>
            <a:spLocks noGrp="1"/>
          </p:cNvSpPr>
          <p:nvPr>
            <p:ph idx="1"/>
          </p:nvPr>
        </p:nvSpPr>
        <p:spPr/>
        <p:txBody>
          <a:bodyPr/>
          <a:lstStyle/>
          <a:p>
            <a:pPr>
              <a:defRPr sz="1800"/>
            </a:pPr>
            <a:r>
              <a:t>Vor der Planung ist zu klären, ob das Tragwerk die erforderlichen Lasten tatsächlich aufnehmen kann. Eine Dachterrasse muss Personenlasten und den zugehörigen Aufbau berücksichtigen. Bei einer Dachbegrünung kommen Substrat, Dränage, Vegetation und langfristig gespeichertes Wasser hinzu. Entscheidend ist daher ein Nachweis für die konkrete Dachsituation, nicht eine allgemeine Annahme. Die Lastreserve sollte bereits vor der Auswahl umfangreicher Beläge oder Bepflanzungskonzepte berücksichtigt werden. So lassen sich nachträgliche Änderungen am Nutzungsziel vermeiden.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4: Pflege und spätere Fehlersuche planen</a:t>
            </a:r>
          </a:p>
        </p:txBody>
      </p:sp>
      <p:sp>
        <p:nvSpPr>
          <p:cNvPr id="3" name="Content Placeholder 2"/>
          <p:cNvSpPr>
            <a:spLocks noGrp="1"/>
          </p:cNvSpPr>
          <p:nvPr>
            <p:ph idx="1"/>
          </p:nvPr>
        </p:nvSpPr>
        <p:spPr/>
        <p:txBody>
          <a:bodyPr/>
          <a:lstStyle/>
          <a:p>
            <a:pPr>
              <a:defRPr sz="1800"/>
            </a:pPr>
            <a:r>
              <a:t>Die beiden Varianten verlangen unterschiedliche, aber dauerhafte Betreuung. Auf einer Dachterrasse sind Belag, Reinigung, Möblierung, Entwässerung und technische Anlagen zu kontrollieren. Auf einer begrünten Fläche gehören Vegetation, freizuhaltende Abläufe und die Erreichbarkeit der Wartungsbereiche zur laufenden Aufgabe. Außerdem kann eine Begrünung ungeklärte Undichtigungen verdecken und deren Lokalisierung erschweren. Die Planung sollte deshalb klären, wie Kontrollen stattfinden und welche Flächen für Arbeiten zugänglich bleiben. Ergänzende Fachinformationen bietet die Übersicht zur Dachbegrünung in Dortmund.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5: Entscheidung vor Auftrag dokumentieren</a:t>
            </a:r>
          </a:p>
        </p:txBody>
      </p:sp>
      <p:sp>
        <p:nvSpPr>
          <p:cNvPr id="3" name="Content Placeholder 2"/>
          <p:cNvSpPr>
            <a:spLocks noGrp="1"/>
          </p:cNvSpPr>
          <p:nvPr>
            <p:ph idx="1"/>
          </p:nvPr>
        </p:nvSpPr>
        <p:spPr/>
        <p:txBody>
          <a:bodyPr/>
          <a:lstStyle/>
          <a:p>
            <a:pPr>
              <a:defRPr sz="1800"/>
            </a:pPr>
            <a:r>
              <a:t>Hilfreich ist ein kurzer Entscheidungsrahmen: gewünschte Nutzung, erforderlicher Zugang, zu erwartender Pflegeaufwand, nachgewiesene Tragfähigkeit, Aufbau der Schutzschichten und Zustand der Abdichtung. Danach können Varianten belastbar verglichen und Angebote für dieselbe Ausgangslage angefordert werden. Objektbezogene Vorgaben, etwa zu Baurecht oder Förderbedingungen, sind im jeweiligen Projekt gesondert zu prüfen. Für die konkrete Ausarbeitung einer begehbaren Dachfläche enthält die Seite zum Dachterrassenbau in Dortmund weitere Hinweise. Grundsätzlich gilt: Erst Nutzungsziel und Bestand klären, dann Tragfähigkeit und Aufbau prüfen, anschl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5: Entscheidung vor Auftrag dokumentieren</a:t>
            </a:r>
          </a:p>
        </p:txBody>
      </p:sp>
      <p:sp>
        <p:nvSpPr>
          <p:cNvPr id="3" name="Content Placeholder 2"/>
          <p:cNvSpPr>
            <a:spLocks noGrp="1"/>
          </p:cNvSpPr>
          <p:nvPr>
            <p:ph idx="1"/>
          </p:nvPr>
        </p:nvSpPr>
        <p:spPr/>
        <p:txBody>
          <a:bodyPr/>
          <a:lstStyle/>
          <a:p>
            <a:pPr>
              <a:defRPr sz="1800"/>
            </a:pPr>
            <a:r>
              <a:t>ießend Materialien, Anschlüsse und Pflege festlegen.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Dachterrasse oder Dachbegrünung: Aufbau, Lasten und Nutzung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